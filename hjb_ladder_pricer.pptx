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8016" cy="1371600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6060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How should we quote EUR/SEK?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C8D6E5"/>
                </a:solidFill>
              </a:rPr>
              <a:t>A model for FX market making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B323"/>
                </a:solidFill>
              </a:rPr>
              <a:t>We are a price-maker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6949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200" b="1">
                <a:solidFill>
                  <a:srgbClr val="F0B323"/>
                </a:solidFill>
              </a:rPr>
              <a:t>Our role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Clients call us wanting to buy or sell euros.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We quote two prices — a bid (we buy) and an ask (we sell).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We make money on the gap between them, called the spread.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F0B323"/>
                </a:solidFill>
              </a:rPr>
              <a:t>The challenge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Every trade changes what we hold — our inventory.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Too much inventory exposes us to losses if the market moves.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The model tells us how to adjust our quotes to stay in control.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280160"/>
            <a:ext cx="4114800" cy="42062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0" y="1280160"/>
            <a:ext cx="109728" cy="4206240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7490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0B323"/>
                </a:solidFill>
              </a:rPr>
              <a:t>2 pips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5720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8D6E5"/>
                </a:solidFill>
              </a:rPr>
              <a:t>spread on a
1M EUR trade
= 2,000 SEK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B323"/>
                </a:solidFill>
              </a:rPr>
              <a:t>Every trade earns us the spread — but also changes our 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57432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D6E5"/>
                </a:solidFill>
              </a:rPr>
              <a:t>EUR/SEK mid ≈ 11.50  |  1 pip = 0.0001 SEK/EUR  |  on 1M EUR, 2 pips = 2,000 SEK profit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B323"/>
                </a:solidFill>
              </a:rPr>
              <a:t>Inventory is the core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1556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200" b="1">
                <a:solidFill>
                  <a:srgbClr val="F0B323"/>
                </a:solidFill>
              </a:rPr>
              <a:t>What happens when we trade?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Each trade moves our position. If we buy 5M EUR, we are now 'long'.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The euro might weaken while we hold it — that's a loss.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F0B323"/>
                </a:solidFill>
              </a:rPr>
              <a:t>The key insight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We can't control when clients call us.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But we can control how attractive our prices are.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Wider bid → fewer clients sell to us → we don't get longer.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Tighter ask → more clients buy from us → we reduce our long position.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F0B323"/>
                </a:solidFill>
              </a:rPr>
              <a:t>This is the lever the model optimises.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B323"/>
                </a:solidFill>
              </a:rPr>
              <a:t>The longer and larger the position, the more it costs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57432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D6E5"/>
                </a:solidFill>
              </a:rPr>
              <a:t>Left: one realisation of the P&amp;L from holding 5 lots.  Right: expected total cost — grows faster than the position size.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B323"/>
                </a:solidFill>
              </a:rPr>
              <a:t>Bigger positions take longer to work 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57432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D6E5"/>
                </a:solidFill>
              </a:rPr>
              <a:t>Estimated from historical data: how many minutes on average until inventory returns to zero, starting from a given position.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B323"/>
                </a:solidFill>
              </a:rPr>
              <a:t>Clients respond to our prices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1556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200" b="1">
                <a:solidFill>
                  <a:srgbClr val="F0B323"/>
                </a:solidFill>
              </a:rPr>
              <a:t>The fill rate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If we quote tight (aggressive), more clients trade with us.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If we quote wide (conservative), fewer clients trade.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This is the fundamental tension: margin per trade vs. number of trades.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F0B323"/>
                </a:solidFill>
              </a:rPr>
              <a:t>Size matters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Larger trades are harder to fill — fewer counterparties exist.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Larger trades also move our inventory more, so they deserve wider quotes.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B323"/>
                </a:solidFill>
              </a:rPr>
              <a:t>How fill probability and trade frequency depend on our quote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57432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D6E5"/>
                </a:solidFill>
              </a:rPr>
              <a:t>Left: probability a client trades with us.  Right: expected number of trades per hour.  δ = 0.5 means quoting exactly at mid.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B323"/>
                </a:solidFill>
              </a:rPr>
              <a:t>One question: what is the best quote right now?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1556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200" b="1">
                <a:solidFill>
                  <a:srgbClr val="F0B323"/>
                </a:solidFill>
              </a:rPr>
              <a:t>The answer depends on inventory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When we hold a lot of long EUR, we should discourage more buying.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C8D6E5"/>
                </a:solidFill>
              </a:rPr>
              <a:t>      — We widen our bid (we pay less, so fewer clients sell to us).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C8D6E5"/>
                </a:solidFill>
              </a:rPr>
              <a:t>      — We tighten our ask (we charge less, so more clients buy from us).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When we are short EUR, the reverse applies.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When flat, we quote symmetrically to maximise flow income.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F0B323"/>
                </a:solidFill>
              </a:rPr>
              <a:t>The model finds the exact optimal quote for every inventory level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…and for every trade size simultaneously.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It accounts for the cost of holding, the expected flow, and how prices move.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B323"/>
                </a:solidFill>
              </a:rPr>
              <a:t>Solved: how far from mid we quote at each inventory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57432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D6E5"/>
                </a:solidFill>
              </a:rPr>
              <a:t>Positive = quoting further from mid (wider, more conservative).  The model automatically widens the side that would worsen the inventory.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B323"/>
                </a:solidFill>
              </a:rPr>
              <a:t>The quote determines how often clients actually trade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1556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200" b="1">
                <a:solidFill>
                  <a:srgbClr val="F0B323"/>
                </a:solidFill>
              </a:rPr>
              <a:t>What is the implied hit ratio?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Once the model picks a quote, we can ask: how likely is it a client trades?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This is the implied hit ratio — a direct consequence of the chosen delta.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F0B323"/>
                </a:solidFill>
              </a:rPr>
              <a:t>What it reveals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When long EUR, we widen the bid. Fewer clients sell to us — the bid hit rate falls.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At the same time, we tighten the ask. More clients buy from us — ask hit rate rises.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The model is actively steering flow to reduce inventory.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F0B323"/>
                </a:solidFill>
              </a:rPr>
              <a:t>Larger sizes always have lower hit rates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Bigger trades are riskier and harder to fill — the model quotes them wider.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B323"/>
                </a:solidFill>
              </a:rPr>
              <a:t>Implied hit ratios: how often clients trade at each inventory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57432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D6E5"/>
                </a:solidFill>
              </a:rPr>
              <a:t>The model steers flow — when long, it raises ask hit rate and lowers bid hit rate simultaneously.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B323"/>
                </a:solidFill>
              </a:rPr>
              <a:t>The dark pool: a passive, anonymous 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1556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200" b="1">
                <a:solidFill>
                  <a:srgbClr val="F0B323"/>
                </a:solidFill>
              </a:rPr>
              <a:t>What is a dark pool?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Some clients route orders through anonymous electronic venues.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We can leave a passive order there — if a client crosses our price, we fill.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No spread cost — we trade at mid. We just need someone to be on the other side.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F0B323"/>
                </a:solidFill>
              </a:rPr>
              <a:t>How we use it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When long EUR, we post a sell order. If a client buys, we reduce our position for free.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When short EUR, we post a buy order to try to cover.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The model decides the optimal posting size at each inventory level.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F0B323"/>
                </a:solidFill>
              </a:rPr>
              <a:t>The catch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Fills are random — we post a size but might get less.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C8D6E5"/>
                </a:solidFill>
              </a:rPr>
              <a:t>      — The larger the post, the less likely a full fill.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B323"/>
                </a:solidFill>
              </a:rPr>
              <a:t>Dark pool posting strategy and fill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57432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D6E5"/>
                </a:solidFill>
              </a:rPr>
              <a:t>Left: size posted at each inventory level — buy when short, sell when long.  Right: geometric fill distribution when posting 5 lots.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B323"/>
                </a:solidFill>
              </a:rPr>
              <a:t>The model also tells us what each inventory level is worth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57432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D6E5"/>
                </a:solidFill>
              </a:rPr>
              <a:t>Left: h(q) — the long-run value advantage of being flat vs holding inventory.  Right: how much spread income we capture per fill.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B323"/>
                </a:solidFill>
              </a:rPr>
              <a:t>In practice, clients trade many different sizes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6949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200" b="1">
                <a:solidFill>
                  <a:srgbClr val="F0B323"/>
                </a:solidFill>
              </a:rPr>
              <a:t>The ladder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We quote six sizes simultaneously: 1, 2, 3, 5, 10 and 20 million EUR.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Each size has its own quote, its own fill curve, its own risk.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F0B323"/>
                </a:solidFill>
              </a:rPr>
              <a:t>Consistency rules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A 5M trade must never get a tighter quote than a 1M trade.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The model enforces this automatically — no manual intervention needed.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C8D6E5"/>
                </a:solidFill>
              </a:rPr>
              <a:t>      — As inventory shifts, all six rungs update together, coherently.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280160"/>
            <a:ext cx="4114800" cy="42062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0" y="1280160"/>
            <a:ext cx="109728" cy="4206240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7490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0B323"/>
                </a:solidFill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5720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8D6E5"/>
                </a:solidFill>
              </a:rPr>
              <a:t>trade sizes
quoted
simultaneously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B323"/>
                </a:solidFill>
              </a:rPr>
              <a:t>The algorithm: iterate until the quotes stabilise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6949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200" b="1">
                <a:solidFill>
                  <a:srgbClr val="F0B323"/>
                </a:solidFill>
              </a:rPr>
              <a:t>We cannot solve this analytically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Start with flat quotes everywhere.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Compute the best response to those quotes — update the whole ladder.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Repeat. After ~100 iterations the quotes stop changing.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That is the optimal policy.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F0B323"/>
                </a:solidFill>
              </a:rPr>
              <a:t>Convergence is fast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The solver runs in C++ and completes in under a second.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It is re-run whenever market conditions change.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280160"/>
            <a:ext cx="4114800" cy="42062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0" y="1280160"/>
            <a:ext cx="109728" cy="4206240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7490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0B323"/>
                </a:solidFill>
              </a:rPr>
              <a:t>&lt; 1s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5720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8D6E5"/>
                </a:solidFill>
              </a:rPr>
              <a:t>solve time
on a laptop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B323"/>
                </a:solidFill>
              </a:rPr>
              <a:t>Every parameter comes from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1556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200" b="1">
                <a:solidFill>
                  <a:srgbClr val="F0B323"/>
                </a:solidFill>
              </a:rPr>
              <a:t>Fill curves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Fit to our RFQ history: how often clients traded at different spread levels.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F0B323"/>
                </a:solidFill>
              </a:rPr>
              <a:t>Internalization time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How long until inventory returns to zero — measured directly from trading records.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F0B323"/>
                </a:solidFill>
              </a:rPr>
              <a:t>Volatility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One-minute EUR/SEK spot volatility, estimated from price data.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F0B323"/>
                </a:solidFill>
              </a:rPr>
              <a:t>Adverse selection (markout)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  How much the price moves after a client trade — a direct data regression.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65176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49039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C8D6E5"/>
                </a:solidFill>
              </a:rPr>
              <a:t>Model: stationary HJB  ·  C++23 solver  ·  pybind11  ·  Streamlit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